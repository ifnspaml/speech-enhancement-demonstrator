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26C_F062B688.xml" ContentType="application/vnd.ms-powerpoint.comments+xml"/>
  <Override PartName="/ppt/notesSlides/notesSlide4.xml" ContentType="application/vnd.openxmlformats-officedocument.presentationml.notesSlide+xml"/>
  <Override PartName="/ppt/comments/modernComment_266_5AE96337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604" r:id="rId2"/>
    <p:sldId id="607" r:id="rId3"/>
    <p:sldId id="606" r:id="rId4"/>
    <p:sldId id="620" r:id="rId5"/>
    <p:sldId id="616" r:id="rId6"/>
    <p:sldId id="615" r:id="rId7"/>
    <p:sldId id="614" r:id="rId8"/>
    <p:sldId id="618" r:id="rId9"/>
    <p:sldId id="619" r:id="rId10"/>
    <p:sldId id="623" r:id="rId11"/>
    <p:sldId id="612" r:id="rId12"/>
  </p:sldIdLst>
  <p:sldSz cx="12192000" cy="6858000"/>
  <p:notesSz cx="6797675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74780AE9-9DA5-4F82-9613-3E01C60D0F12}">
          <p14:sldIdLst>
            <p14:sldId id="604"/>
            <p14:sldId id="607"/>
            <p14:sldId id="606"/>
            <p14:sldId id="620"/>
            <p14:sldId id="616"/>
            <p14:sldId id="615"/>
            <p14:sldId id="614"/>
            <p14:sldId id="618"/>
            <p14:sldId id="619"/>
            <p14:sldId id="623"/>
            <p14:sldId id="6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B5CF93-CD6B-A847-83C9-7845250E35B0}" name="Simon Tarras" initials="ST" userId="14aef8da1ce9e4b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CCCE"/>
    <a:srgbClr val="FFFFFF"/>
    <a:srgbClr val="000000"/>
    <a:srgbClr val="F6E6E9"/>
    <a:srgbClr val="F4E7E8"/>
    <a:srgbClr val="FFE2CB"/>
    <a:srgbClr val="D6E7ED"/>
    <a:srgbClr val="ACCEDC"/>
    <a:srgbClr val="4472C4"/>
    <a:srgbClr val="BF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7" autoAdjust="0"/>
    <p:restoredTop sz="78581" autoAdjust="0"/>
  </p:normalViewPr>
  <p:slideViewPr>
    <p:cSldViewPr snapToGrid="0">
      <p:cViewPr varScale="1">
        <p:scale>
          <a:sx n="65" d="100"/>
          <a:sy n="65" d="100"/>
        </p:scale>
        <p:origin x="136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3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omments/modernComment_26C_F062B6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82123A-B405-443A-9FAF-F210E7E5BFA5}" authorId="{1DB5CF93-CD6B-A847-83C9-7845250E35B0}" created="2024-08-29T12:55:17.13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33001096" sldId="620"/>
      <ac:spMk id="3" creationId="{6E86DBC1-736D-E3D4-2760-DF8A9D584DB1}"/>
      <ac:txMk cp="324">
        <ac:context len="387" hash="1798852564"/>
      </ac:txMk>
    </ac:txMkLst>
    <p188:pos x="11104989" y="2231458"/>
    <p188:txBody>
      <a:bodyPr/>
      <a:lstStyle/>
      <a:p>
        <a:r>
          <a:rPr lang="de-DE"/>
          <a:t>ist ein bekanntes Framework, was von allen möglichen Neuronalen Network frameworks exportiert werden kann und es kann in Web-Assembly ausgeführt werden.
WebRTC ist ein ausgereifter Standard für Echtzeitaudiokommunikation mit Hauptanwendungsbereich: Webbrowser
Django ist ein bekanntes und sehr mächtiges Tool zur Erstellung von Webseiten
Raspberry Pi ist ein Preis/Leistungs-starkes und sehr gut portables Gerät, welches  das ganze Projekt tragen kann</a:t>
        </a:r>
      </a:p>
    </p188:txBody>
  </p188:cm>
</p188:cmLst>
</file>

<file path=ppt/comments/modernComment_266_5AE9633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DC16026-C8BC-40AB-A419-C925FE3A4787}" authorId="{1DB5CF93-CD6B-A847-83C9-7845250E35B0}" created="2024-08-29T12:58:10.42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25244727" sldId="614"/>
      <ac:spMk id="3" creationId="{FFF22059-CC0C-EAC9-8327-69123B0BE983}"/>
      <ac:txMk cp="66">
        <ac:context len="273" hash="3838111003"/>
      </ac:txMk>
    </ac:txMkLst>
    <p188:pos x="5058150" y="235510"/>
    <p188:txBody>
      <a:bodyPr/>
      <a:lstStyle/>
      <a:p>
        <a:r>
          <a:rPr lang="de-DE"/>
          <a:t>Check these Things and correct them for each model:
input Shape
instance of Model
build of key-Dictionary from Checkpoint
Hidden State Size
Pad_size
generate of Config
Change the Model to known data
complex numbers parted in real-part and imaginary-part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13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13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9CACD1D2-5EC1-42A9-A340-58177A981139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764E84A5-C999-4513-ACC4-0B68FF7626F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462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13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135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83E0197D-F81F-433D-8CC6-110A6ECD941E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32" tIns="45715" rIns="91432" bIns="45715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F580D161-FA9C-456C-9569-190E241355E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54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A6088-1FF0-4E53-845C-EFEDD1C948F8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6869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</a:t>
            </a:r>
            <a:r>
              <a:rPr lang="de-DE" b="0" i="0" dirty="0" err="1">
                <a:effectLst/>
                <a:latin typeface="inherit"/>
              </a:rPr>
              <a:t>noise</a:t>
            </a:r>
            <a:r>
              <a:rPr lang="de-DE" b="0" i="0" dirty="0">
                <a:effectLst/>
                <a:latin typeface="inherit"/>
              </a:rPr>
              <a:t> </a:t>
            </a:r>
            <a:r>
              <a:rPr lang="de-DE" b="0" i="0" dirty="0" err="1">
                <a:effectLst/>
                <a:latin typeface="inherit"/>
              </a:rPr>
              <a:t>suppression</a:t>
            </a:r>
            <a:endParaRPr lang="de-DE" b="0" i="0" dirty="0"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</a:t>
            </a:r>
            <a:r>
              <a:rPr lang="de-DE" b="0" i="0" dirty="0" err="1">
                <a:effectLst/>
                <a:latin typeface="inherit"/>
              </a:rPr>
              <a:t>performence</a:t>
            </a:r>
            <a:r>
              <a:rPr lang="de-DE" b="0" i="0" dirty="0">
                <a:effectLst/>
                <a:latin typeface="inherit"/>
              </a:rPr>
              <a:t> live auf </a:t>
            </a:r>
            <a:r>
              <a:rPr lang="de-DE" b="0" i="0" dirty="0" err="1">
                <a:effectLst/>
                <a:latin typeface="inherit"/>
              </a:rPr>
              <a:t>konferenzen</a:t>
            </a:r>
            <a:endParaRPr lang="de-DE" b="0" i="0" dirty="0">
              <a:effectLst/>
              <a:latin typeface="inherit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0D161-FA9C-456C-9569-190E241355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42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Firefox keine Parameter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</a:t>
            </a:r>
            <a:r>
              <a:rPr lang="de-DE" b="0" i="0" dirty="0" err="1">
                <a:effectLst/>
                <a:latin typeface="inherit"/>
              </a:rPr>
              <a:t>Pytorch</a:t>
            </a:r>
            <a:r>
              <a:rPr lang="de-DE" b="0" i="0" dirty="0">
                <a:effectLst/>
                <a:latin typeface="inherit"/>
              </a:rPr>
              <a:t> verstehen ONNX Export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</a:t>
            </a:r>
            <a:r>
              <a:rPr lang="de-DE" b="0" i="0" dirty="0" err="1">
                <a:effectLst/>
                <a:latin typeface="inherit"/>
              </a:rPr>
              <a:t>Webassembly</a:t>
            </a:r>
            <a:r>
              <a:rPr lang="de-DE" b="0" i="0" dirty="0">
                <a:effectLst/>
                <a:latin typeface="inherit"/>
              </a:rPr>
              <a:t> weil ONNX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WebRTC Standard für Echtzeitaudiokommunikation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Django Backend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Responsive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0D161-FA9C-456C-9569-190E241355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09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erkläre warum </a:t>
            </a:r>
            <a:r>
              <a:rPr lang="de-DE" b="0" i="0" dirty="0" err="1">
                <a:effectLst/>
                <a:latin typeface="inherit"/>
              </a:rPr>
              <a:t>state</a:t>
            </a:r>
            <a:r>
              <a:rPr lang="de-DE" b="0" i="0" dirty="0">
                <a:effectLst/>
                <a:latin typeface="inherit"/>
              </a:rPr>
              <a:t> </a:t>
            </a:r>
            <a:r>
              <a:rPr lang="de-DE" b="0" i="0" dirty="0" err="1">
                <a:effectLst/>
                <a:latin typeface="inherit"/>
              </a:rPr>
              <a:t>forwarding</a:t>
            </a:r>
            <a:endParaRPr lang="de-DE" b="0" i="0" dirty="0"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trainiertes </a:t>
            </a:r>
            <a:r>
              <a:rPr lang="de-DE" b="0" i="0" dirty="0" err="1">
                <a:effectLst/>
                <a:latin typeface="inherit"/>
              </a:rPr>
              <a:t>modell</a:t>
            </a:r>
            <a:r>
              <a:rPr lang="de-DE" b="0" i="0" dirty="0">
                <a:effectLst/>
                <a:latin typeface="inherit"/>
              </a:rPr>
              <a:t> </a:t>
            </a:r>
            <a:r>
              <a:rPr lang="de-DE" b="0" i="0" dirty="0" err="1">
                <a:effectLst/>
                <a:latin typeface="inherit"/>
              </a:rPr>
              <a:t>yaml</a:t>
            </a:r>
            <a:r>
              <a:rPr lang="de-DE" b="0" i="0" dirty="0">
                <a:effectLst/>
                <a:latin typeface="inherit"/>
              </a:rPr>
              <a:t> </a:t>
            </a:r>
            <a:r>
              <a:rPr lang="de-DE" b="0" i="0" dirty="0" err="1">
                <a:effectLst/>
                <a:latin typeface="inherit"/>
              </a:rPr>
              <a:t>checkpoint</a:t>
            </a:r>
            <a:endParaRPr lang="de-DE" b="0" i="0" dirty="0">
              <a:effectLst/>
              <a:latin typeface="inheri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b="0" i="0" dirty="0">
                <a:effectLst/>
                <a:latin typeface="inherit"/>
              </a:rPr>
              <a:t> Frameweise </a:t>
            </a:r>
            <a:r>
              <a:rPr lang="de-DE" b="0" i="0" dirty="0" err="1">
                <a:effectLst/>
                <a:latin typeface="inherit"/>
              </a:rPr>
              <a:t>inferenz</a:t>
            </a:r>
            <a:endParaRPr lang="de-DE" b="0" i="0" dirty="0"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endParaRPr lang="de-DE" b="0" i="0" dirty="0">
              <a:effectLst/>
              <a:latin typeface="inherit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0D161-FA9C-456C-9569-190E241355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1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0D161-FA9C-456C-9569-190E241355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2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braucht gutes Gerät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Läuft auf Device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de-DE" b="0" i="0" dirty="0">
                <a:effectLst/>
                <a:latin typeface="inherit"/>
              </a:rPr>
              <a:t> Raum Aufbau erklären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0D161-FA9C-456C-9569-190E241355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4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mailto:m.marksteller@tu-bs.de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hyperlink" Target="mailto:s.tarras@tu-bs.de" TargetMode="External"/><Relationship Id="rId4" Type="http://schemas.openxmlformats.org/officeDocument/2006/relationships/hyperlink" Target="mailto:r.wolff-klammer-milian@tu-bs.d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Rectangle 22"/>
          <p:cNvSpPr>
            <a:spLocks noChangeArrowheads="1"/>
          </p:cNvSpPr>
          <p:nvPr userDrawn="1"/>
        </p:nvSpPr>
        <p:spPr bwMode="auto">
          <a:xfrm>
            <a:off x="395819" y="1449389"/>
            <a:ext cx="11400367" cy="265430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Platzhalter für Bild, Bild auf Titelfolie hinter das Logo einsetzen</a:t>
            </a:r>
          </a:p>
        </p:txBody>
      </p:sp>
      <p:sp>
        <p:nvSpPr>
          <p:cNvPr id="5" name="Rectangle 17"/>
          <p:cNvSpPr>
            <a:spLocks noChangeArrowheads="1"/>
          </p:cNvSpPr>
          <p:nvPr userDrawn="1"/>
        </p:nvSpPr>
        <p:spPr bwMode="auto">
          <a:xfrm>
            <a:off x="351370" y="1713389"/>
            <a:ext cx="11444816" cy="4582637"/>
          </a:xfrm>
          <a:prstGeom prst="rect">
            <a:avLst/>
          </a:prstGeom>
          <a:solidFill>
            <a:srgbClr val="FFF0B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</a:t>
            </a:r>
          </a:p>
        </p:txBody>
      </p:sp>
      <p:pic>
        <p:nvPicPr>
          <p:cNvPr id="6" name="Picture 16" descr="TU_Braunschweig_02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t="377" b="27132"/>
          <a:stretch/>
        </p:blipFill>
        <p:spPr bwMode="auto">
          <a:xfrm>
            <a:off x="351370" y="1440000"/>
            <a:ext cx="11443200" cy="2576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8"/>
          <p:cNvSpPr>
            <a:spLocks noChangeArrowheads="1"/>
          </p:cNvSpPr>
          <p:nvPr userDrawn="1"/>
        </p:nvSpPr>
        <p:spPr bwMode="auto">
          <a:xfrm>
            <a:off x="351370" y="6296026"/>
            <a:ext cx="11444816" cy="287337"/>
          </a:xfrm>
          <a:prstGeom prst="rect">
            <a:avLst/>
          </a:prstGeom>
          <a:solidFill>
            <a:srgbClr val="BE1E3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109133" y="4356100"/>
            <a:ext cx="10363200" cy="873125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de-DE" sz="2400" b="1" baseline="0" smtClean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de-DE" sz="2000" b="1" dirty="0">
                <a:solidFill>
                  <a:schemeClr val="bg1"/>
                </a:solidFill>
                <a:latin typeface="+mn-lt"/>
              </a:rPr>
            </a:br>
            <a:endParaRPr lang="de-DE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107018" y="5499102"/>
            <a:ext cx="10329333" cy="3333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Moritz Marksteller, Richard Wolff-Klammer </a:t>
            </a:r>
            <a:r>
              <a:rPr lang="de-DE" dirty="0" err="1"/>
              <a:t>Milián</a:t>
            </a:r>
            <a:r>
              <a:rPr lang="de-DE" dirty="0"/>
              <a:t>, Simon Tarras, 27.09.2024</a:t>
            </a:r>
          </a:p>
        </p:txBody>
      </p:sp>
      <p:pic>
        <p:nvPicPr>
          <p:cNvPr id="9" name="Picture 13" descr="TUBS_CO_150dpi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648000"/>
            <a:ext cx="2832001" cy="105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Grafik 10" descr="IfN_Logo.emf">
            <a:extLst>
              <a:ext uri="{FF2B5EF4-FFF2-40B4-BE49-F238E27FC236}">
                <a16:creationId xmlns:a16="http://schemas.microsoft.com/office/drawing/2014/main" id="{77D3A645-ACFE-4DEE-B659-E0706F557EB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8994318" y="656027"/>
            <a:ext cx="2832001" cy="66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0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5734" y="1200000"/>
            <a:ext cx="11167533" cy="4608000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34" y="6221356"/>
            <a:ext cx="1921934" cy="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71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5733" y="1200000"/>
            <a:ext cx="5376000" cy="456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5" name="Inhaltsplatzhalter 2"/>
          <p:cNvSpPr>
            <a:spLocks noGrp="1"/>
          </p:cNvSpPr>
          <p:nvPr>
            <p:ph idx="10"/>
          </p:nvPr>
        </p:nvSpPr>
        <p:spPr>
          <a:xfrm>
            <a:off x="6480043" y="1200000"/>
            <a:ext cx="5376000" cy="456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34" y="6221356"/>
            <a:ext cx="1921934" cy="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8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34" y="6221356"/>
            <a:ext cx="1921934" cy="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26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734" y="111126"/>
            <a:ext cx="11167533" cy="7080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Diagrammplatzhalter 2"/>
          <p:cNvSpPr>
            <a:spLocks noGrp="1"/>
          </p:cNvSpPr>
          <p:nvPr>
            <p:ph type="chart" idx="1"/>
          </p:nvPr>
        </p:nvSpPr>
        <p:spPr>
          <a:xfrm>
            <a:off x="575734" y="1200000"/>
            <a:ext cx="11167533" cy="460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noProof="0" dirty="0" err="1"/>
              <a:t>Diagramm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auf Symbol </a:t>
            </a:r>
            <a:r>
              <a:rPr lang="en-US" noProof="0" dirty="0" err="1"/>
              <a:t>hinzufügen</a:t>
            </a:r>
            <a:endParaRPr lang="en-US" noProof="0" dirty="0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34" y="6221356"/>
            <a:ext cx="1921934" cy="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6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>
            <a:spLocks noChangeArrowheads="1"/>
          </p:cNvSpPr>
          <p:nvPr userDrawn="1"/>
        </p:nvSpPr>
        <p:spPr bwMode="auto">
          <a:xfrm>
            <a:off x="0" y="0"/>
            <a:ext cx="12192000" cy="863600"/>
          </a:xfrm>
          <a:prstGeom prst="rect">
            <a:avLst/>
          </a:prstGeom>
          <a:solidFill>
            <a:srgbClr val="DDDDDD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5734" y="1200000"/>
            <a:ext cx="11167533" cy="4608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34" y="6221356"/>
            <a:ext cx="1921934" cy="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3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8"/>
          <p:cNvSpPr>
            <a:spLocks noChangeArrowheads="1"/>
          </p:cNvSpPr>
          <p:nvPr userDrawn="1"/>
        </p:nvSpPr>
        <p:spPr bwMode="auto">
          <a:xfrm>
            <a:off x="0" y="0"/>
            <a:ext cx="12192000" cy="863600"/>
          </a:xfrm>
          <a:prstGeom prst="rect">
            <a:avLst/>
          </a:prstGeom>
          <a:solidFill>
            <a:srgbClr val="DDDDDD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75733" y="1200000"/>
            <a:ext cx="5376000" cy="456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5" name="Inhaltsplatzhalter 2"/>
          <p:cNvSpPr>
            <a:spLocks noGrp="1"/>
          </p:cNvSpPr>
          <p:nvPr>
            <p:ph idx="10"/>
          </p:nvPr>
        </p:nvSpPr>
        <p:spPr>
          <a:xfrm>
            <a:off x="6480043" y="1200000"/>
            <a:ext cx="5376000" cy="4560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34" y="6221356"/>
            <a:ext cx="1921934" cy="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15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>
            <a:spLocks noChangeArrowheads="1"/>
          </p:cNvSpPr>
          <p:nvPr userDrawn="1"/>
        </p:nvSpPr>
        <p:spPr bwMode="auto">
          <a:xfrm>
            <a:off x="0" y="0"/>
            <a:ext cx="12192000" cy="863600"/>
          </a:xfrm>
          <a:prstGeom prst="rect">
            <a:avLst/>
          </a:prstGeom>
          <a:solidFill>
            <a:srgbClr val="DDDDDD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34" y="6221356"/>
            <a:ext cx="1921934" cy="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071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1_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>
            <a:spLocks noChangeArrowheads="1"/>
          </p:cNvSpPr>
          <p:nvPr userDrawn="1"/>
        </p:nvSpPr>
        <p:spPr bwMode="auto">
          <a:xfrm>
            <a:off x="0" y="0"/>
            <a:ext cx="12192000" cy="863600"/>
          </a:xfrm>
          <a:prstGeom prst="rect">
            <a:avLst/>
          </a:prstGeom>
          <a:solidFill>
            <a:srgbClr val="DDDDDD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734" y="111126"/>
            <a:ext cx="11167533" cy="708025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Diagrammplatzhalter 2"/>
          <p:cNvSpPr>
            <a:spLocks noGrp="1"/>
          </p:cNvSpPr>
          <p:nvPr>
            <p:ph type="chart" idx="1"/>
          </p:nvPr>
        </p:nvSpPr>
        <p:spPr>
          <a:xfrm>
            <a:off x="575734" y="1200000"/>
            <a:ext cx="11167533" cy="4608000"/>
          </a:xfrm>
        </p:spPr>
        <p:txBody>
          <a:bodyPr/>
          <a:lstStyle/>
          <a:p>
            <a:r>
              <a:rPr lang="de-DE" dirty="0"/>
              <a:t>Diagramm durch Klicken auf Symbol hinzufügen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34" y="6221356"/>
            <a:ext cx="1921934" cy="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2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 userDrawn="1"/>
        </p:nvSpPr>
        <p:spPr bwMode="auto">
          <a:xfrm>
            <a:off x="0" y="1"/>
            <a:ext cx="12192000" cy="1133475"/>
          </a:xfrm>
          <a:prstGeom prst="rect">
            <a:avLst/>
          </a:prstGeom>
          <a:solidFill>
            <a:schemeClr val="hlink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4" name="Rectangle 3"/>
          <p:cNvSpPr>
            <a:spLocks noGrp="1" noChangeArrowheads="1"/>
          </p:cNvSpPr>
          <p:nvPr userDrawn="1">
            <p:ph type="body" idx="1"/>
          </p:nvPr>
        </p:nvSpPr>
        <p:spPr bwMode="gray">
          <a:xfrm>
            <a:off x="575733" y="1339851"/>
            <a:ext cx="11161184" cy="4622800"/>
          </a:xfrm>
          <a:noFill/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>
              <a:buClr>
                <a:srgbClr val="C0C0C0"/>
              </a:buClr>
            </a:pPr>
            <a:r>
              <a:rPr lang="en-US" sz="2667" noProof="0" dirty="0" err="1">
                <a:solidFill>
                  <a:srgbClr val="C0C0C0"/>
                </a:solidFill>
              </a:rPr>
              <a:t>Textmasterformat</a:t>
            </a:r>
            <a:r>
              <a:rPr lang="en-US" sz="2667" noProof="0" dirty="0">
                <a:solidFill>
                  <a:srgbClr val="C0C0C0"/>
                </a:solidFill>
              </a:rPr>
              <a:t> </a:t>
            </a:r>
            <a:r>
              <a:rPr lang="en-US" sz="2667" noProof="0" dirty="0" err="1">
                <a:solidFill>
                  <a:srgbClr val="C0C0C0"/>
                </a:solidFill>
              </a:rPr>
              <a:t>bearbeiten</a:t>
            </a:r>
            <a:endParaRPr lang="en-US" sz="2667" noProof="0" dirty="0">
              <a:solidFill>
                <a:srgbClr val="C0C0C0"/>
              </a:solidFill>
            </a:endParaRPr>
          </a:p>
          <a:p>
            <a:pPr lvl="1">
              <a:buClr>
                <a:srgbClr val="C0C0C0"/>
              </a:buClr>
            </a:pPr>
            <a:r>
              <a:rPr lang="en-US" sz="2667" noProof="0" dirty="0" err="1">
                <a:solidFill>
                  <a:srgbClr val="C0C0C0"/>
                </a:solidFill>
              </a:rPr>
              <a:t>Zweite</a:t>
            </a:r>
            <a:r>
              <a:rPr lang="en-US" sz="2667" noProof="0" dirty="0">
                <a:solidFill>
                  <a:srgbClr val="C0C0C0"/>
                </a:solidFill>
              </a:rPr>
              <a:t> </a:t>
            </a:r>
            <a:r>
              <a:rPr lang="en-US" sz="2667" noProof="0" dirty="0" err="1">
                <a:solidFill>
                  <a:srgbClr val="C0C0C0"/>
                </a:solidFill>
              </a:rPr>
              <a:t>Ebene</a:t>
            </a:r>
            <a:endParaRPr lang="en-US" sz="2667" noProof="0" dirty="0">
              <a:solidFill>
                <a:srgbClr val="C0C0C0"/>
              </a:solidFill>
            </a:endParaRPr>
          </a:p>
          <a:p>
            <a:pPr lvl="2">
              <a:buClr>
                <a:srgbClr val="C0C0C0"/>
              </a:buClr>
            </a:pPr>
            <a:r>
              <a:rPr lang="en-US" sz="2667" noProof="0" dirty="0" err="1">
                <a:solidFill>
                  <a:srgbClr val="C0C0C0"/>
                </a:solidFill>
              </a:rPr>
              <a:t>Dritte</a:t>
            </a:r>
            <a:r>
              <a:rPr lang="en-US" sz="2667" noProof="0" dirty="0">
                <a:solidFill>
                  <a:srgbClr val="C0C0C0"/>
                </a:solidFill>
              </a:rPr>
              <a:t> </a:t>
            </a:r>
            <a:r>
              <a:rPr lang="en-US" sz="2667" noProof="0" dirty="0" err="1">
                <a:solidFill>
                  <a:srgbClr val="C0C0C0"/>
                </a:solidFill>
              </a:rPr>
              <a:t>Ebene</a:t>
            </a:r>
            <a:endParaRPr lang="en-US" sz="2667" noProof="0" dirty="0">
              <a:solidFill>
                <a:srgbClr val="C0C0C0"/>
              </a:solidFill>
            </a:endParaRPr>
          </a:p>
          <a:p>
            <a:pPr lvl="3">
              <a:buClr>
                <a:srgbClr val="C0C0C0"/>
              </a:buClr>
            </a:pPr>
            <a:r>
              <a:rPr lang="en-US" sz="2667" noProof="0" dirty="0" err="1">
                <a:solidFill>
                  <a:srgbClr val="C0C0C0"/>
                </a:solidFill>
              </a:rPr>
              <a:t>Vierte</a:t>
            </a:r>
            <a:r>
              <a:rPr lang="en-US" sz="2667" noProof="0" dirty="0">
                <a:solidFill>
                  <a:srgbClr val="C0C0C0"/>
                </a:solidFill>
              </a:rPr>
              <a:t> </a:t>
            </a:r>
            <a:r>
              <a:rPr lang="en-US" sz="2667" noProof="0" dirty="0" err="1">
                <a:solidFill>
                  <a:srgbClr val="C0C0C0"/>
                </a:solidFill>
              </a:rPr>
              <a:t>Ebene</a:t>
            </a:r>
            <a:endParaRPr lang="en-US" sz="2667" noProof="0" dirty="0">
              <a:solidFill>
                <a:srgbClr val="C0C0C0"/>
              </a:solidFill>
            </a:endParaRPr>
          </a:p>
          <a:p>
            <a:pPr lvl="4">
              <a:buClr>
                <a:srgbClr val="C0C0C0"/>
              </a:buClr>
            </a:pPr>
            <a:r>
              <a:rPr lang="en-US" sz="2667" noProof="0" dirty="0" err="1">
                <a:solidFill>
                  <a:srgbClr val="C0C0C0"/>
                </a:solidFill>
              </a:rPr>
              <a:t>Fünfte</a:t>
            </a:r>
            <a:r>
              <a:rPr lang="en-US" sz="2667" noProof="0" dirty="0">
                <a:solidFill>
                  <a:srgbClr val="C0C0C0"/>
                </a:solidFill>
              </a:rPr>
              <a:t> </a:t>
            </a:r>
            <a:r>
              <a:rPr lang="en-US" sz="2667" noProof="0" dirty="0" err="1">
                <a:solidFill>
                  <a:srgbClr val="C0C0C0"/>
                </a:solidFill>
              </a:rPr>
              <a:t>Ebene</a:t>
            </a:r>
            <a:endParaRPr lang="en-US" sz="2667" noProof="0" dirty="0">
              <a:solidFill>
                <a:srgbClr val="C0C0C0"/>
              </a:solidFill>
            </a:endParaRP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34" y="6221356"/>
            <a:ext cx="1921934" cy="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45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Overl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5" name="Rechteck 4"/>
          <p:cNvSpPr/>
          <p:nvPr userDrawn="1"/>
        </p:nvSpPr>
        <p:spPr>
          <a:xfrm>
            <a:off x="0" y="5904276"/>
            <a:ext cx="12192000" cy="95372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34" y="6221356"/>
            <a:ext cx="1921934" cy="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59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fN-Danksagung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kumente und Einstellungen\Spika\Desktop\Design\image6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-8471"/>
            <a:ext cx="9982201" cy="6087537"/>
          </a:xfrm>
          <a:prstGeom prst="rect">
            <a:avLst/>
          </a:prstGeom>
          <a:noFill/>
        </p:spPr>
      </p:pic>
      <p:sp>
        <p:nvSpPr>
          <p:cNvPr id="5" name="Textfeld 4"/>
          <p:cNvSpPr txBox="1"/>
          <p:nvPr userDrawn="1"/>
        </p:nvSpPr>
        <p:spPr>
          <a:xfrm>
            <a:off x="719667" y="1600201"/>
            <a:ext cx="926253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de-DE" sz="3600" b="1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you </a:t>
            </a:r>
            <a:r>
              <a:rPr lang="de-DE" sz="3600" b="1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</a:t>
            </a:r>
            <a:r>
              <a:rPr lang="de-DE" sz="3600" b="1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your </a:t>
            </a:r>
            <a:r>
              <a:rPr lang="de-DE" sz="3600" b="1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attention</a:t>
            </a:r>
            <a:r>
              <a:rPr lang="de-DE" sz="3600" b="1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lang="de-DE" sz="36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feld 5"/>
          <p:cNvSpPr txBox="1"/>
          <p:nvPr userDrawn="1"/>
        </p:nvSpPr>
        <p:spPr>
          <a:xfrm>
            <a:off x="719668" y="4695825"/>
            <a:ext cx="10570632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Moritz Marksteller, Richard Wolff-Klammer </a:t>
            </a:r>
            <a:r>
              <a:rPr kumimoji="0" lang="de-D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Milián</a:t>
            </a: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Simon Tarras</a:t>
            </a: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/>
              </a:rPr>
              <a:t>m.marksteller@tu-bs.de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4"/>
              </a:rPr>
              <a:t>r.wolff-klammer-milian@tu-bs.de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5"/>
              </a:rPr>
              <a:t>s.tarras@tu-bs.de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34" y="6221356"/>
            <a:ext cx="1921934" cy="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490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Line 14"/>
          <p:cNvSpPr>
            <a:spLocks noChangeShapeType="1"/>
          </p:cNvSpPr>
          <p:nvPr/>
        </p:nvSpPr>
        <p:spPr bwMode="auto">
          <a:xfrm>
            <a:off x="0" y="6081600"/>
            <a:ext cx="12192000" cy="0"/>
          </a:xfrm>
          <a:prstGeom prst="line">
            <a:avLst/>
          </a:prstGeom>
          <a:noFill/>
          <a:ln w="9525">
            <a:solidFill>
              <a:srgbClr val="BE1E3C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5734" y="111126"/>
            <a:ext cx="1116753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5734" y="1200000"/>
            <a:ext cx="11167533" cy="46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Mastertextformat</a:t>
            </a:r>
            <a:r>
              <a:rPr lang="en-US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pic>
        <p:nvPicPr>
          <p:cNvPr id="1044" name="Picture 20" descr="TUBS_CO_70vH_150dpi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" y="6081600"/>
            <a:ext cx="2097006" cy="7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feld 7"/>
          <p:cNvSpPr txBox="1"/>
          <p:nvPr/>
        </p:nvSpPr>
        <p:spPr>
          <a:xfrm>
            <a:off x="2157995" y="6140451"/>
            <a:ext cx="7051243" cy="4926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67" noProof="0" dirty="0">
                <a:latin typeface="+mn-lt"/>
              </a:rPr>
              <a:t>27.09.2024 | Moritz </a:t>
            </a:r>
            <a:r>
              <a:rPr lang="en-US" sz="1067" noProof="0" dirty="0" err="1">
                <a:latin typeface="+mn-lt"/>
              </a:rPr>
              <a:t>Marksteller</a:t>
            </a:r>
            <a:r>
              <a:rPr lang="en-US" sz="1067" noProof="0" dirty="0">
                <a:latin typeface="+mn-lt"/>
              </a:rPr>
              <a:t>, Richard Wolff-</a:t>
            </a:r>
            <a:r>
              <a:rPr lang="en-US" sz="1067" noProof="0" dirty="0" err="1">
                <a:latin typeface="+mn-lt"/>
              </a:rPr>
              <a:t>Klammer</a:t>
            </a:r>
            <a:r>
              <a:rPr lang="en-US" sz="1067" noProof="0" dirty="0">
                <a:latin typeface="+mn-lt"/>
              </a:rPr>
              <a:t> </a:t>
            </a:r>
            <a:r>
              <a:rPr lang="en-US" sz="1067" noProof="0" dirty="0" err="1">
                <a:latin typeface="+mn-lt"/>
              </a:rPr>
              <a:t>Milián</a:t>
            </a:r>
            <a:r>
              <a:rPr lang="en-US" sz="1067" noProof="0" dirty="0">
                <a:latin typeface="+mn-lt"/>
              </a:rPr>
              <a:t>, Simon Tarras</a:t>
            </a:r>
            <a:r>
              <a:rPr lang="en-US" sz="1067" baseline="0" noProof="0" dirty="0">
                <a:latin typeface="+mn-lt"/>
              </a:rPr>
              <a:t> </a:t>
            </a:r>
            <a:r>
              <a:rPr lang="en-US" sz="1067" noProof="0" dirty="0">
                <a:latin typeface="+mn-lt"/>
              </a:rPr>
              <a:t>| Speech-Enhancement-Demo | </a:t>
            </a:r>
            <a:r>
              <a:rPr lang="en-US" sz="1067" noProof="0" dirty="0" err="1">
                <a:latin typeface="+mn-lt"/>
              </a:rPr>
              <a:t>Seite</a:t>
            </a:r>
            <a:r>
              <a:rPr lang="en-US" sz="1067" baseline="0" noProof="0" dirty="0">
                <a:latin typeface="+mn-lt"/>
              </a:rPr>
              <a:t> </a:t>
            </a:r>
            <a:fld id="{54091A06-E49E-4F45-A4ED-27B9A60B04AE}" type="slidenum">
              <a:rPr lang="en-US" sz="1067" baseline="0" noProof="0" smtClean="0">
                <a:latin typeface="+mn-lt"/>
              </a:rPr>
              <a:pPr marL="0" marR="0" indent="0" algn="l" defTabSz="121917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r>
              <a:rPr lang="en-US" sz="1067" baseline="0" noProof="0" dirty="0">
                <a:latin typeface="+mn-lt"/>
              </a:rPr>
              <a:t>/11</a:t>
            </a:r>
            <a:endParaRPr lang="en-US" sz="1067" noProof="0" dirty="0">
              <a:latin typeface="+mn-lt"/>
            </a:endParaRPr>
          </a:p>
          <a:p>
            <a:endParaRPr lang="en-US" sz="1067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840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253994" indent="-25187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2pPr>
      <a:lvl3pPr marL="482588" indent="-22647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3pPr>
      <a:lvl4pPr marL="723882" indent="-239178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4pPr>
      <a:lvl5pPr marL="990575" indent="-26457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5pPr>
      <a:lvl6pPr marL="1600160" indent="-264577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133">
          <a:solidFill>
            <a:schemeClr val="tx1"/>
          </a:solidFill>
          <a:latin typeface="+mn-lt"/>
        </a:defRPr>
      </a:lvl6pPr>
      <a:lvl7pPr marL="2209745" indent="-264577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133">
          <a:solidFill>
            <a:schemeClr val="tx1"/>
          </a:solidFill>
          <a:latin typeface="+mn-lt"/>
        </a:defRPr>
      </a:lvl7pPr>
      <a:lvl8pPr marL="2819330" indent="-264577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133">
          <a:solidFill>
            <a:schemeClr val="tx1"/>
          </a:solidFill>
          <a:latin typeface="+mn-lt"/>
        </a:defRPr>
      </a:lvl8pPr>
      <a:lvl9pPr marL="3428914" indent="-264577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133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microsoft.com/office/2018/10/relationships/comments" Target="../comments/modernComment_26C_F062B688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66_5AE9633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peech-enhancement-demo.ifn.ing.tu-bs.d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speech-enhancement-demo.ifn.ing.tu-bs.de/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/>
          <p:cNvSpPr>
            <a:spLocks noGrp="1"/>
          </p:cNvSpPr>
          <p:nvPr>
            <p:ph type="ctrTitle"/>
          </p:nvPr>
        </p:nvSpPr>
        <p:spPr>
          <a:xfrm>
            <a:off x="1041401" y="4254524"/>
            <a:ext cx="10090572" cy="873125"/>
          </a:xfrm>
        </p:spPr>
        <p:txBody>
          <a:bodyPr anchor="t"/>
          <a:lstStyle/>
          <a:p>
            <a:r>
              <a:rPr lang="de-DE" dirty="0">
                <a:solidFill>
                  <a:schemeClr val="tx1"/>
                </a:solidFill>
              </a:rPr>
              <a:t>TP: Speech-Enhancement-Demo</a:t>
            </a:r>
            <a:endParaRPr lang="de-DE" i="1" dirty="0">
              <a:solidFill>
                <a:schemeClr val="tx1"/>
              </a:solidFill>
            </a:endParaRPr>
          </a:p>
        </p:txBody>
      </p:sp>
      <p:sp>
        <p:nvSpPr>
          <p:cNvPr id="10" name="Untertitel 9"/>
          <p:cNvSpPr>
            <a:spLocks noGrp="1"/>
          </p:cNvSpPr>
          <p:nvPr>
            <p:ph type="subTitle" idx="1"/>
          </p:nvPr>
        </p:nvSpPr>
        <p:spPr>
          <a:xfrm>
            <a:off x="1107018" y="5272682"/>
            <a:ext cx="10329333" cy="333375"/>
          </a:xfrm>
        </p:spPr>
        <p:txBody>
          <a:bodyPr/>
          <a:lstStyle/>
          <a:p>
            <a:r>
              <a:rPr lang="de-DE" dirty="0"/>
              <a:t>Moritz Marksteller, Richard Wolff-Klammer </a:t>
            </a:r>
            <a:r>
              <a:rPr lang="de-DE" dirty="0" err="1"/>
              <a:t>Milián</a:t>
            </a:r>
            <a:r>
              <a:rPr lang="de-DE" dirty="0"/>
              <a:t>, Simon Tarras, 27.09.2024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569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  <a:endParaRPr lang="en-US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Speech-Enhancement Netze in Echtzeit mit Echtdaten testen und sie vorführen können.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0AA142E-EA86-6927-3AC0-53AAB6B5E3B7}"/>
              </a:ext>
            </a:extLst>
          </p:cNvPr>
          <p:cNvSpPr txBox="1"/>
          <p:nvPr/>
        </p:nvSpPr>
        <p:spPr>
          <a:xfrm>
            <a:off x="6593353" y="4822997"/>
            <a:ext cx="40917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Die Autobahn A6 bei Weinsberg. | </a:t>
            </a:r>
            <a:r>
              <a:rPr lang="de-DE" sz="1200" dirty="0" err="1"/>
              <a:t>picture</a:t>
            </a:r>
            <a:r>
              <a:rPr lang="de-DE" sz="1200" dirty="0"/>
              <a:t> </a:t>
            </a:r>
            <a:r>
              <a:rPr lang="de-DE" sz="1200" dirty="0" err="1"/>
              <a:t>alliance</a:t>
            </a:r>
            <a:r>
              <a:rPr lang="de-DE" sz="1200" dirty="0"/>
              <a:t>/dpa</a:t>
            </a:r>
          </a:p>
        </p:txBody>
      </p:sp>
      <p:pic>
        <p:nvPicPr>
          <p:cNvPr id="7" name="Grafik 6" descr="Ein Bild, das draußen, Weg, Fahrzeug, Straße enthält.">
            <a:extLst>
              <a:ext uri="{FF2B5EF4-FFF2-40B4-BE49-F238E27FC236}">
                <a16:creationId xmlns:a16="http://schemas.microsoft.com/office/drawing/2014/main" id="{63805ACE-2CC4-77C5-57EA-4F1ACEC67C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013" y="2097914"/>
            <a:ext cx="5844567" cy="2630055"/>
          </a:xfrm>
          <a:prstGeom prst="rect">
            <a:avLst/>
          </a:prstGeom>
        </p:spPr>
      </p:pic>
      <p:pic>
        <p:nvPicPr>
          <p:cNvPr id="9" name="Grafik 8" descr="Ein Bild, das Gelände, draußen, Baugeräte, Transport enthält.&#10;&#10;Automatisch generierte Beschreibung">
            <a:extLst>
              <a:ext uri="{FF2B5EF4-FFF2-40B4-BE49-F238E27FC236}">
                <a16:creationId xmlns:a16="http://schemas.microsoft.com/office/drawing/2014/main" id="{2C8D0C85-6396-C5EC-12CF-836E242865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22" y="2097914"/>
            <a:ext cx="4297051" cy="2863583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ECC6808-D226-9DD8-F326-8C654E5A8C26}"/>
              </a:ext>
            </a:extLst>
          </p:cNvPr>
          <p:cNvSpPr txBox="1"/>
          <p:nvPr/>
        </p:nvSpPr>
        <p:spPr>
          <a:xfrm>
            <a:off x="801422" y="5065347"/>
            <a:ext cx="40155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istockphoto.com | @Markus </a:t>
            </a:r>
            <a:r>
              <a:rPr lang="de-DE" sz="1200" dirty="0" err="1"/>
              <a:t>Thoenen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2679289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dirty="0" err="1"/>
              <a:t>TechStack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Inference</a:t>
            </a:r>
            <a:r>
              <a:rPr lang="de-DE" dirty="0"/>
              <a:t> Architecture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STFT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ONNX-</a:t>
            </a:r>
            <a:r>
              <a:rPr lang="de-DE" dirty="0" err="1"/>
              <a:t>Exporter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Demonstration </a:t>
            </a:r>
            <a:r>
              <a:rPr lang="de-DE" dirty="0" err="1"/>
              <a:t>of</a:t>
            </a:r>
            <a:r>
              <a:rPr lang="de-DE" dirty="0"/>
              <a:t> Webserver</a:t>
            </a:r>
          </a:p>
        </p:txBody>
      </p:sp>
    </p:spTree>
    <p:extLst>
      <p:ext uri="{BB962C8B-B14F-4D97-AF65-F5344CB8AC3E}">
        <p14:creationId xmlns:p14="http://schemas.microsoft.com/office/powerpoint/2010/main" val="2661603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3E0BC-5C2B-1F15-81B9-274EB6A7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Tech-Stack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86DBC1-736D-E3D4-2760-DF8A9D584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Grafik 4" descr="Ein Bild, das Grafiken, Grafikdesign, Clipart, Schrift enthält.&#10;&#10;Automatisch generierte Beschreibung">
            <a:extLst>
              <a:ext uri="{FF2B5EF4-FFF2-40B4-BE49-F238E27FC236}">
                <a16:creationId xmlns:a16="http://schemas.microsoft.com/office/drawing/2014/main" id="{5A8A67C5-4324-3644-536F-7B3A35D7F7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491" y="3125776"/>
            <a:ext cx="1788775" cy="213951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1B5E280-2052-B251-7F6D-54E3D6209511}"/>
              </a:ext>
            </a:extLst>
          </p:cNvPr>
          <p:cNvSpPr txBox="1"/>
          <p:nvPr/>
        </p:nvSpPr>
        <p:spPr>
          <a:xfrm>
            <a:off x="9493622" y="5343756"/>
            <a:ext cx="256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https://webrtc.github.io/webrtc-org/press/</a:t>
            </a:r>
          </a:p>
        </p:txBody>
      </p:sp>
      <p:pic>
        <p:nvPicPr>
          <p:cNvPr id="9" name="Grafik 8" descr="Ein Bild, das Schrift, Logo, Grafiken, Symbol enthält.&#10;&#10;Automatisch generierte Beschreibung">
            <a:extLst>
              <a:ext uri="{FF2B5EF4-FFF2-40B4-BE49-F238E27FC236}">
                <a16:creationId xmlns:a16="http://schemas.microsoft.com/office/drawing/2014/main" id="{004422A7-5541-1858-F2FD-113B466A0B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729" y="3722255"/>
            <a:ext cx="3023617" cy="1053227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33DFFAC1-CC32-ED7A-CF81-050134A246AE}"/>
              </a:ext>
            </a:extLst>
          </p:cNvPr>
          <p:cNvSpPr txBox="1"/>
          <p:nvPr/>
        </p:nvSpPr>
        <p:spPr>
          <a:xfrm>
            <a:off x="5955156" y="4829582"/>
            <a:ext cx="35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https://www.djangoproject.com/community/logos/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273E151-71F9-B4F7-B8BC-212251B7948E}"/>
              </a:ext>
            </a:extLst>
          </p:cNvPr>
          <p:cNvSpPr txBox="1"/>
          <p:nvPr/>
        </p:nvSpPr>
        <p:spPr>
          <a:xfrm>
            <a:off x="328441" y="4775482"/>
            <a:ext cx="279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https://onnx.ai/index.html</a:t>
            </a:r>
          </a:p>
        </p:txBody>
      </p:sp>
      <p:pic>
        <p:nvPicPr>
          <p:cNvPr id="15" name="Grafik 14" descr="Ein Bild, das Text, Schwarz, Lampe, Dunkelheit enthält.&#10;&#10;Automatisch generierte Beschreibung">
            <a:extLst>
              <a:ext uri="{FF2B5EF4-FFF2-40B4-BE49-F238E27FC236}">
                <a16:creationId xmlns:a16="http://schemas.microsoft.com/office/drawing/2014/main" id="{330DD1F8-1D64-E813-EFCE-85094CE517A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41" y="3833091"/>
            <a:ext cx="3199137" cy="822954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EB2DE6F6-1C7A-412B-5542-518DC2505AAB}"/>
              </a:ext>
            </a:extLst>
          </p:cNvPr>
          <p:cNvSpPr txBox="1"/>
          <p:nvPr/>
        </p:nvSpPr>
        <p:spPr>
          <a:xfrm>
            <a:off x="3088007" y="4968081"/>
            <a:ext cx="290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https://www.chromium.org/chromium-projects/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EEBAAAD2-B309-C4F5-484F-C4B1C30A0B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3301" y="3325091"/>
            <a:ext cx="1590481" cy="1590481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FB0C190A-A2AF-03CC-BDD1-B583397F1174}"/>
              </a:ext>
            </a:extLst>
          </p:cNvPr>
          <p:cNvSpPr txBox="1"/>
          <p:nvPr/>
        </p:nvSpPr>
        <p:spPr>
          <a:xfrm>
            <a:off x="4542698" y="757981"/>
            <a:ext cx="77445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Chromium Browser</a:t>
            </a:r>
            <a:r>
              <a:rPr lang="de-DE" dirty="0"/>
              <a:t>: -&gt; </a:t>
            </a:r>
            <a:r>
              <a:rPr lang="de-DE" dirty="0" err="1"/>
              <a:t>Barrier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Entry gering</a:t>
            </a:r>
          </a:p>
          <a:p>
            <a:pPr marL="285750" indent="-285750">
              <a:buFontTx/>
              <a:buChar char="-"/>
            </a:pPr>
            <a:r>
              <a:rPr lang="de-DE" dirty="0"/>
              <a:t>Web-Assembly -&gt; performante Ausführung + gut für Data Processing geeignet</a:t>
            </a:r>
          </a:p>
          <a:p>
            <a:pPr marL="285750" indent="-285750">
              <a:buFontTx/>
              <a:buChar char="-"/>
            </a:pPr>
            <a:r>
              <a:rPr lang="de-DE" dirty="0"/>
              <a:t>ONNX -&gt; Export von allen NN-Frameworks möglich + in Web-Assembly ausführbar</a:t>
            </a:r>
          </a:p>
          <a:p>
            <a:pPr marL="285750" indent="-285750">
              <a:buFontTx/>
              <a:buChar char="-"/>
            </a:pPr>
            <a:r>
              <a:rPr lang="de-DE" dirty="0"/>
              <a:t>WebRTC -&gt; Standard für Kommunikation für Webbrowser</a:t>
            </a:r>
          </a:p>
          <a:p>
            <a:pPr marL="285750" indent="-285750">
              <a:buFontTx/>
              <a:buChar char="-"/>
            </a:pPr>
            <a:r>
              <a:rPr lang="de-DE" dirty="0"/>
              <a:t>Bootstrap -&gt; Design im Frontend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C03B5F9-F813-9E5B-BE33-C3DC69BFEA8C}"/>
              </a:ext>
            </a:extLst>
          </p:cNvPr>
          <p:cNvSpPr txBox="1"/>
          <p:nvPr/>
        </p:nvSpPr>
        <p:spPr>
          <a:xfrm>
            <a:off x="328441" y="1528305"/>
            <a:ext cx="37501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Raspberry Pi</a:t>
            </a:r>
            <a:r>
              <a:rPr lang="de-DE" dirty="0"/>
              <a:t>: -&gt; Preis/Leistung + kann Projekt tragen</a:t>
            </a:r>
          </a:p>
          <a:p>
            <a:pPr marL="285750" indent="-285750">
              <a:buFontTx/>
              <a:buChar char="-"/>
            </a:pPr>
            <a:r>
              <a:rPr lang="de-DE" dirty="0"/>
              <a:t>Django -&gt; Webseitenerstellung, hauptsächlich Backend</a:t>
            </a:r>
          </a:p>
        </p:txBody>
      </p:sp>
    </p:spTree>
    <p:extLst>
      <p:ext uri="{BB962C8B-B14F-4D97-AF65-F5344CB8AC3E}">
        <p14:creationId xmlns:p14="http://schemas.microsoft.com/office/powerpoint/2010/main" val="40330010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DEE2FD-384E-4988-B5A0-C0E0DC88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Inference</a:t>
            </a:r>
            <a:r>
              <a:rPr lang="de-DE" dirty="0"/>
              <a:t> Architecture</a:t>
            </a:r>
          </a:p>
        </p:txBody>
      </p:sp>
      <p:pic>
        <p:nvPicPr>
          <p:cNvPr id="12" name="Inhaltsplatzhalter 11" descr="Ein Bild, das Text, Screenshot, Diagramm, Zahl enthält.&#10;&#10;Automatisch generierte Beschreibung">
            <a:extLst>
              <a:ext uri="{FF2B5EF4-FFF2-40B4-BE49-F238E27FC236}">
                <a16:creationId xmlns:a16="http://schemas.microsoft.com/office/drawing/2014/main" id="{4CA87A6A-A468-D227-9E73-7C58F56D3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710" y="1200150"/>
            <a:ext cx="7861581" cy="4608513"/>
          </a:xfrm>
        </p:spPr>
      </p:pic>
    </p:spTree>
    <p:extLst>
      <p:ext uri="{BB962C8B-B14F-4D97-AF65-F5344CB8AC3E}">
        <p14:creationId xmlns:p14="http://schemas.microsoft.com/office/powerpoint/2010/main" val="2156347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Diagramm, Screenshot, Reihe enthält.&#10;&#10;Automatisch generierte Beschreibung">
            <a:extLst>
              <a:ext uri="{FF2B5EF4-FFF2-40B4-BE49-F238E27FC236}">
                <a16:creationId xmlns:a16="http://schemas.microsoft.com/office/drawing/2014/main" id="{6A256251-CF1D-8506-5874-BFB07126E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073" y="980361"/>
            <a:ext cx="4003194" cy="430030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DF07821-60A2-4FE0-C2F2-9FA17A4E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Own Short Term Fourier Transform (STFT)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C5C91E-E60D-FF0E-295E-97E4488C6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Framewise STFT-Libraries </a:t>
            </a:r>
            <a:r>
              <a:rPr lang="en-US" dirty="0" err="1"/>
              <a:t>gibt</a:t>
            </a:r>
            <a:r>
              <a:rPr lang="en-US" dirty="0"/>
              <a:t> es in JavaScript </a:t>
            </a:r>
            <a:r>
              <a:rPr lang="en-US" dirty="0" err="1"/>
              <a:t>nicht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FFT-Libraries </a:t>
            </a:r>
            <a:r>
              <a:rPr lang="en-US" dirty="0" err="1"/>
              <a:t>sind</a:t>
            </a:r>
            <a:r>
              <a:rPr lang="en-US" dirty="0"/>
              <a:t> in JavaScript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produktionsfähig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/>
              <a:t>FFT-Library </a:t>
            </a:r>
            <a:r>
              <a:rPr lang="en-US" dirty="0" err="1"/>
              <a:t>fixen</a:t>
            </a:r>
            <a:r>
              <a:rPr lang="en-US" dirty="0"/>
              <a:t> + STFT </a:t>
            </a:r>
            <a:r>
              <a:rPr lang="en-US" dirty="0" err="1"/>
              <a:t>selber</a:t>
            </a:r>
            <a:r>
              <a:rPr lang="en-US" dirty="0"/>
              <a:t> </a:t>
            </a:r>
            <a:r>
              <a:rPr lang="en-US" dirty="0" err="1"/>
              <a:t>implementieren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prozessieren</a:t>
            </a:r>
            <a:r>
              <a:rPr lang="en-US" dirty="0"/>
              <a:t> die STFT für </a:t>
            </a:r>
            <a:r>
              <a:rPr lang="en-US" dirty="0" err="1"/>
              <a:t>jeden</a:t>
            </a:r>
            <a:r>
              <a:rPr lang="en-US" dirty="0"/>
              <a:t> Hop + </a:t>
            </a:r>
            <a:r>
              <a:rPr lang="en-US" dirty="0" err="1"/>
              <a:t>direkte</a:t>
            </a:r>
            <a:r>
              <a:rPr lang="en-US" dirty="0"/>
              <a:t> </a:t>
            </a:r>
            <a:r>
              <a:rPr lang="en-US" dirty="0" err="1"/>
              <a:t>Weitergabe</a:t>
            </a:r>
            <a:r>
              <a:rPr lang="en-US" dirty="0"/>
              <a:t> an </a:t>
            </a:r>
            <a:r>
              <a:rPr lang="en-US" dirty="0" err="1"/>
              <a:t>Inferenz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Dabei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das Window </a:t>
            </a:r>
            <a:r>
              <a:rPr lang="en-US" dirty="0" err="1"/>
              <a:t>verschoben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Alle Overlaps </a:t>
            </a:r>
            <a:r>
              <a:rPr lang="en-US" dirty="0" err="1"/>
              <a:t>werden</a:t>
            </a:r>
            <a:r>
              <a:rPr lang="en-US" dirty="0"/>
              <a:t> supported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Laufzeit</a:t>
            </a:r>
            <a:r>
              <a:rPr lang="en-US" dirty="0"/>
              <a:t> der STFT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unbedeutend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Vergleich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Laufzeit</a:t>
            </a:r>
            <a:r>
              <a:rPr lang="en-US" dirty="0"/>
              <a:t> der </a:t>
            </a:r>
            <a:r>
              <a:rPr lang="en-US" dirty="0" err="1"/>
              <a:t>Inferenz</a:t>
            </a:r>
            <a:r>
              <a:rPr lang="en-US" dirty="0"/>
              <a:t>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4AA914C-5872-955A-4802-B98959B8B5D0}"/>
              </a:ext>
            </a:extLst>
          </p:cNvPr>
          <p:cNvSpPr txBox="1"/>
          <p:nvPr/>
        </p:nvSpPr>
        <p:spPr>
          <a:xfrm>
            <a:off x="5642505" y="5415974"/>
            <a:ext cx="6100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Area-Efficient Short-Time Fourier Transform Processor for Time–Frequency Analysis of Non-Stationary Signals; </a:t>
            </a:r>
            <a:r>
              <a:rPr lang="en-US" sz="1200" dirty="0" err="1"/>
              <a:t>Hohyub</a:t>
            </a:r>
            <a:r>
              <a:rPr lang="en-US" sz="1200" dirty="0"/>
              <a:t> Jeon, </a:t>
            </a:r>
            <a:r>
              <a:rPr lang="en-US" sz="1200" dirty="0" err="1"/>
              <a:t>Yongchul</a:t>
            </a:r>
            <a:r>
              <a:rPr lang="en-US" sz="1200" dirty="0"/>
              <a:t> Jung, </a:t>
            </a:r>
            <a:r>
              <a:rPr lang="en-US" sz="1200" dirty="0" err="1"/>
              <a:t>Seongjoo</a:t>
            </a:r>
            <a:r>
              <a:rPr lang="en-US" sz="1200" dirty="0"/>
              <a:t> Lee, </a:t>
            </a:r>
            <a:r>
              <a:rPr lang="en-US" sz="1200" dirty="0" err="1"/>
              <a:t>Yunho</a:t>
            </a:r>
            <a:r>
              <a:rPr lang="en-US" sz="1200" dirty="0"/>
              <a:t> Jung</a:t>
            </a:r>
          </a:p>
        </p:txBody>
      </p:sp>
    </p:spTree>
    <p:extLst>
      <p:ext uri="{BB962C8B-B14F-4D97-AF65-F5344CB8AC3E}">
        <p14:creationId xmlns:p14="http://schemas.microsoft.com/office/powerpoint/2010/main" val="347010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E19F7C-9B41-06A2-4AF8-AB7F53C5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ONNX-</a:t>
            </a:r>
            <a:r>
              <a:rPr lang="de-DE" dirty="0" err="1"/>
              <a:t>Exporter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F22059-CC0C-EAC9-8327-69123B0BE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KI-</a:t>
            </a:r>
            <a:r>
              <a:rPr lang="en-US" dirty="0" err="1"/>
              <a:t>Inferenz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Browser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/>
              <a:t>ONNX </a:t>
            </a:r>
            <a:r>
              <a:rPr lang="en-US" dirty="0" err="1"/>
              <a:t>liefert</a:t>
            </a:r>
            <a:r>
              <a:rPr lang="en-US" dirty="0"/>
              <a:t> runtime</a:t>
            </a:r>
          </a:p>
          <a:p>
            <a:endParaRPr lang="en-US" dirty="0"/>
          </a:p>
          <a:p>
            <a:r>
              <a:rPr lang="en-US" dirty="0"/>
              <a:t>Export von </a:t>
            </a:r>
            <a:r>
              <a:rPr lang="en-US" dirty="0" err="1"/>
              <a:t>PyTorch</a:t>
            </a:r>
            <a:r>
              <a:rPr lang="en-US" dirty="0"/>
              <a:t> auf ONNX </a:t>
            </a:r>
            <a:r>
              <a:rPr lang="en-US" dirty="0" err="1"/>
              <a:t>sollte</a:t>
            </a:r>
            <a:r>
              <a:rPr lang="en-US" dirty="0"/>
              <a:t> </a:t>
            </a:r>
            <a:r>
              <a:rPr lang="en-US" dirty="0" err="1"/>
              <a:t>einfach</a:t>
            </a:r>
            <a:r>
              <a:rPr lang="en-US" dirty="0"/>
              <a:t> sein</a:t>
            </a:r>
          </a:p>
          <a:p>
            <a:endParaRPr lang="en-US" dirty="0"/>
          </a:p>
          <a:p>
            <a:r>
              <a:rPr lang="en-US" dirty="0"/>
              <a:t>ONNX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komplexen</a:t>
            </a:r>
            <a:r>
              <a:rPr lang="en-US" dirty="0"/>
              <a:t> </a:t>
            </a:r>
            <a:r>
              <a:rPr lang="en-US" dirty="0" err="1"/>
              <a:t>Zahlen</a:t>
            </a:r>
            <a:r>
              <a:rPr lang="en-US" dirty="0"/>
              <a:t> </a:t>
            </a:r>
            <a:r>
              <a:rPr lang="en-US" dirty="0" err="1"/>
              <a:t>umgehen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 err="1"/>
              <a:t>Müssen</a:t>
            </a:r>
            <a:r>
              <a:rPr lang="en-US" dirty="0"/>
              <a:t> </a:t>
            </a:r>
            <a:r>
              <a:rPr lang="en-US" dirty="0" err="1"/>
              <a:t>aufgeteilt</a:t>
            </a:r>
            <a:r>
              <a:rPr lang="en-US" dirty="0"/>
              <a:t> sein in den Real- und </a:t>
            </a:r>
            <a:r>
              <a:rPr lang="en-US" dirty="0" err="1"/>
              <a:t>Imaginärteil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dirty="0"/>
          </a:p>
          <a:p>
            <a:r>
              <a:rPr lang="en-US" dirty="0"/>
              <a:t>ONNX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bestimmten</a:t>
            </a:r>
            <a:r>
              <a:rPr lang="en-US" dirty="0"/>
              <a:t> </a:t>
            </a:r>
            <a:r>
              <a:rPr lang="en-US" dirty="0" err="1"/>
              <a:t>Schichten</a:t>
            </a:r>
            <a:r>
              <a:rPr lang="en-US" dirty="0"/>
              <a:t> </a:t>
            </a:r>
            <a:r>
              <a:rPr lang="en-US" dirty="0" err="1"/>
              <a:t>umgehen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 err="1"/>
              <a:t>Eigene</a:t>
            </a:r>
            <a:r>
              <a:rPr lang="en-US" dirty="0"/>
              <a:t> </a:t>
            </a:r>
            <a:r>
              <a:rPr lang="en-US" dirty="0" err="1"/>
              <a:t>FilterBank</a:t>
            </a:r>
            <a:r>
              <a:rPr lang="en-US" dirty="0"/>
              <a:t> </a:t>
            </a:r>
            <a:r>
              <a:rPr lang="en-US" dirty="0" err="1"/>
              <a:t>geht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!</a:t>
            </a:r>
          </a:p>
        </p:txBody>
      </p:sp>
      <p:pic>
        <p:nvPicPr>
          <p:cNvPr id="5" name="Grafik 4" descr="Ein Bild, das Text, Screenshot, Reihe, Schrift enthält.&#10;&#10;Automatisch generierte Beschreibung">
            <a:extLst>
              <a:ext uri="{FF2B5EF4-FFF2-40B4-BE49-F238E27FC236}">
                <a16:creationId xmlns:a16="http://schemas.microsoft.com/office/drawing/2014/main" id="{BCBC2A03-2525-47FC-664F-A9E0992BC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528" y="1570976"/>
            <a:ext cx="5444441" cy="371604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FF820FF-8E99-9269-3463-57FD3FE419A2}"/>
              </a:ext>
            </a:extLst>
          </p:cNvPr>
          <p:cNvSpPr txBox="1"/>
          <p:nvPr/>
        </p:nvSpPr>
        <p:spPr>
          <a:xfrm>
            <a:off x="7068560" y="1015334"/>
            <a:ext cx="3121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PyTorch</a:t>
            </a:r>
            <a:r>
              <a:rPr lang="de-DE" dirty="0"/>
              <a:t> Model fertig trainiert</a:t>
            </a:r>
          </a:p>
        </p:txBody>
      </p:sp>
    </p:spTree>
    <p:extLst>
      <p:ext uri="{BB962C8B-B14F-4D97-AF65-F5344CB8AC3E}">
        <p14:creationId xmlns:p14="http://schemas.microsoft.com/office/powerpoint/2010/main" val="15252447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F07821-60A2-4FE0-C2F2-9FA17A4E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ONNX-</a:t>
            </a:r>
            <a:r>
              <a:rPr lang="de-DE" dirty="0" err="1"/>
              <a:t>Exporter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546B673-E779-12DD-FA32-9707F7599E02}"/>
              </a:ext>
            </a:extLst>
          </p:cNvPr>
          <p:cNvSpPr txBox="1"/>
          <p:nvPr/>
        </p:nvSpPr>
        <p:spPr>
          <a:xfrm>
            <a:off x="431654" y="1782394"/>
            <a:ext cx="303876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WICHTIG: </a:t>
            </a:r>
            <a:r>
              <a:rPr lang="en-US" sz="1600" dirty="0">
                <a:solidFill>
                  <a:schemeClr val="accent1"/>
                </a:solidFill>
              </a:rPr>
              <a:t>Hidden states </a:t>
            </a:r>
            <a:r>
              <a:rPr lang="en-US" sz="1600" dirty="0" err="1">
                <a:solidFill>
                  <a:schemeClr val="accent1"/>
                </a:solidFill>
              </a:rPr>
              <a:t>müssen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einzeln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übergeben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werden</a:t>
            </a:r>
            <a:r>
              <a:rPr lang="en-US" sz="1600" dirty="0">
                <a:solidFill>
                  <a:schemeClr val="accent1"/>
                </a:solidFill>
              </a:rPr>
              <a:t>.</a:t>
            </a:r>
          </a:p>
          <a:p>
            <a:endParaRPr lang="en-US" sz="1600" dirty="0"/>
          </a:p>
          <a:p>
            <a:r>
              <a:rPr lang="en-US" sz="1600" dirty="0" err="1"/>
              <a:t>Weitere</a:t>
            </a:r>
            <a:r>
              <a:rPr lang="en-US" sz="1600" dirty="0"/>
              <a:t> </a:t>
            </a:r>
            <a:r>
              <a:rPr lang="en-US" sz="1600" dirty="0" err="1"/>
              <a:t>notwendige</a:t>
            </a:r>
            <a:r>
              <a:rPr lang="en-US" sz="1600" dirty="0"/>
              <a:t> </a:t>
            </a:r>
            <a:r>
              <a:rPr lang="en-US" sz="1600" dirty="0" err="1"/>
              <a:t>Anpassungen</a:t>
            </a:r>
            <a:r>
              <a:rPr lang="en-US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input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instance of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build of key-Dictionary from Checkpoint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Hidden State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Pad_size</a:t>
            </a: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generate of Config</a:t>
            </a:r>
          </a:p>
        </p:txBody>
      </p:sp>
      <p:pic>
        <p:nvPicPr>
          <p:cNvPr id="7" name="Inhaltsplatzhalter 6" descr="Ein Bild, das Text, Screenshot, Schrift, Diagramm enthält.&#10;&#10;Automatisch generierte Beschreibung">
            <a:extLst>
              <a:ext uri="{FF2B5EF4-FFF2-40B4-BE49-F238E27FC236}">
                <a16:creationId xmlns:a16="http://schemas.microsoft.com/office/drawing/2014/main" id="{5ABC305A-21ED-AE2D-9FC9-F23423452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887" y="1246449"/>
            <a:ext cx="7736046" cy="4608513"/>
          </a:xfr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2AAD128-9401-DD5C-BAFC-4E6671536B75}"/>
              </a:ext>
            </a:extLst>
          </p:cNvPr>
          <p:cNvSpPr txBox="1"/>
          <p:nvPr/>
        </p:nvSpPr>
        <p:spPr>
          <a:xfrm>
            <a:off x="9801710" y="1003038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State </a:t>
            </a:r>
            <a:r>
              <a:rPr lang="de-DE" dirty="0" err="1"/>
              <a:t>Forwarding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6098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D1857-DFF9-3E37-EDDA-CD82B5BEB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Diagrammplatzhalter 2">
            <a:extLst>
              <a:ext uri="{FF2B5EF4-FFF2-40B4-BE49-F238E27FC236}">
                <a16:creationId xmlns:a16="http://schemas.microsoft.com/office/drawing/2014/main" id="{C98F9F3D-0F95-CAB7-6254-85D8C287396A}"/>
              </a:ext>
            </a:extLst>
          </p:cNvPr>
          <p:cNvSpPr>
            <a:spLocks noGrp="1"/>
          </p:cNvSpPr>
          <p:nvPr>
            <p:ph type="chart" idx="1"/>
          </p:nvPr>
        </p:nvSpPr>
        <p:spPr>
          <a:xfrm>
            <a:off x="4084012" y="1433218"/>
            <a:ext cx="4023975" cy="1995782"/>
          </a:xfrm>
        </p:spPr>
        <p:txBody>
          <a:bodyPr/>
          <a:lstStyle/>
          <a:p>
            <a:r>
              <a:rPr lang="de-DE" sz="11500" dirty="0"/>
              <a:t>Demo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2F10897-2535-997B-4DD7-4C38BD8FD4FF}"/>
              </a:ext>
            </a:extLst>
          </p:cNvPr>
          <p:cNvSpPr txBox="1"/>
          <p:nvPr/>
        </p:nvSpPr>
        <p:spPr>
          <a:xfrm>
            <a:off x="3553658" y="4043067"/>
            <a:ext cx="5211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hlinkClick r:id="rId3"/>
              </a:rPr>
              <a:t>http://speech-enhancement-demo.ifn.ing.tu-bs.de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0742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D1857-DFF9-3E37-EDDA-CD82B5BEB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Diagrammplatzhalter 2">
            <a:extLst>
              <a:ext uri="{FF2B5EF4-FFF2-40B4-BE49-F238E27FC236}">
                <a16:creationId xmlns:a16="http://schemas.microsoft.com/office/drawing/2014/main" id="{C98F9F3D-0F95-CAB7-6254-85D8C287396A}"/>
              </a:ext>
            </a:extLst>
          </p:cNvPr>
          <p:cNvSpPr>
            <a:spLocks noGrp="1"/>
          </p:cNvSpPr>
          <p:nvPr>
            <p:ph type="chart" idx="1"/>
          </p:nvPr>
        </p:nvSpPr>
        <p:spPr>
          <a:xfrm>
            <a:off x="4084012" y="1433218"/>
            <a:ext cx="4023975" cy="1995782"/>
          </a:xfrm>
        </p:spPr>
        <p:txBody>
          <a:bodyPr/>
          <a:lstStyle/>
          <a:p>
            <a:r>
              <a:rPr lang="de-DE" sz="11500" dirty="0"/>
              <a:t>Demo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2F10897-2535-997B-4DD7-4C38BD8FD4FF}"/>
              </a:ext>
            </a:extLst>
          </p:cNvPr>
          <p:cNvSpPr txBox="1"/>
          <p:nvPr/>
        </p:nvSpPr>
        <p:spPr>
          <a:xfrm>
            <a:off x="5502145" y="4163140"/>
            <a:ext cx="5211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hlinkClick r:id="rId2"/>
              </a:rPr>
              <a:t>http://speech-enhancement-demo.ifn.ing.tu-bs.de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64ACDF0-8153-ECEF-90B1-DF5C2BDAB0D9}"/>
              </a:ext>
            </a:extLst>
          </p:cNvPr>
          <p:cNvSpPr txBox="1"/>
          <p:nvPr/>
        </p:nvSpPr>
        <p:spPr>
          <a:xfrm>
            <a:off x="1019079" y="3886141"/>
            <a:ext cx="24801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Zum Selbst austesten:</a:t>
            </a:r>
          </a:p>
          <a:p>
            <a:r>
              <a:rPr lang="de-DE" dirty="0"/>
              <a:t>WLAN: </a:t>
            </a:r>
            <a:r>
              <a:rPr lang="de-DE" dirty="0" err="1"/>
              <a:t>Speechdemo</a:t>
            </a:r>
            <a:endParaRPr lang="de-DE" dirty="0"/>
          </a:p>
          <a:p>
            <a:r>
              <a:rPr lang="de-DE" dirty="0" err="1"/>
              <a:t>Pw</a:t>
            </a:r>
            <a:r>
              <a:rPr lang="de-DE" dirty="0"/>
              <a:t>: 40081895</a:t>
            </a:r>
          </a:p>
        </p:txBody>
      </p:sp>
    </p:spTree>
    <p:extLst>
      <p:ext uri="{BB962C8B-B14F-4D97-AF65-F5344CB8AC3E}">
        <p14:creationId xmlns:p14="http://schemas.microsoft.com/office/powerpoint/2010/main" val="1255874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46035"/>
      </p:ext>
    </p:extLst>
  </p:cSld>
  <p:clrMapOvr>
    <a:masterClrMapping/>
  </p:clrMapOvr>
</p:sld>
</file>

<file path=ppt/theme/theme1.xml><?xml version="1.0" encoding="utf-8"?>
<a:theme xmlns:a="http://schemas.openxmlformats.org/drawingml/2006/main" name="TUBraunschweig_PPT2007_Folienpool_16_9">
  <a:themeElements>
    <a:clrScheme name="TU Braunschweig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Galathea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/>
      </a:spPr>
      <a:bodyPr rtlCol="0" anchor="ctr"/>
      <a:lstStyle>
        <a:defPPr algn="ctr">
          <a:defRPr dirty="0" smtClean="0"/>
        </a:defPPr>
      </a:lstStyle>
      <a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TU Braunschweig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BE1E3C"/>
        </a:accent1>
        <a:accent2>
          <a:srgbClr val="4DA6CB"/>
        </a:accent2>
        <a:accent3>
          <a:srgbClr val="ADBF4D"/>
        </a:accent3>
        <a:accent4>
          <a:srgbClr val="FA6E00"/>
        </a:accent4>
        <a:accent5>
          <a:srgbClr val="407E97"/>
        </a:accent5>
        <a:accent6>
          <a:srgbClr val="984098"/>
        </a:accent6>
        <a:hlink>
          <a:srgbClr val="BE1E3C"/>
        </a:hlink>
        <a:folHlink>
          <a:srgbClr val="76005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424</Words>
  <Application>Microsoft Office PowerPoint</Application>
  <PresentationFormat>Breitbild</PresentationFormat>
  <Paragraphs>90</Paragraphs>
  <Slides>11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inherit</vt:lpstr>
      <vt:lpstr>Wingdings</vt:lpstr>
      <vt:lpstr>TUBraunschweig_PPT2007_Folienpool_16_9</vt:lpstr>
      <vt:lpstr>TP: Speech-Enhancement-Demo</vt:lpstr>
      <vt:lpstr>Motivation</vt:lpstr>
      <vt:lpstr>Gliederung</vt:lpstr>
      <vt:lpstr>Tech-Stack</vt:lpstr>
      <vt:lpstr>Inference Architecture</vt:lpstr>
      <vt:lpstr>Own Short Term Fourier Transform (STFT)</vt:lpstr>
      <vt:lpstr>ONNX-Exporter</vt:lpstr>
      <vt:lpstr>ONNX-Exporter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Inga Schleicher</dc:creator>
  <cp:lastModifiedBy>Simon Tarras</cp:lastModifiedBy>
  <cp:revision>1910</cp:revision>
  <cp:lastPrinted>2023-02-28T09:22:04Z</cp:lastPrinted>
  <dcterms:created xsi:type="dcterms:W3CDTF">2021-05-28T11:59:38Z</dcterms:created>
  <dcterms:modified xsi:type="dcterms:W3CDTF">2024-09-26T10:53:56Z</dcterms:modified>
</cp:coreProperties>
</file>